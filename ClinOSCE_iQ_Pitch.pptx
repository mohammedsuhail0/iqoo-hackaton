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iQOO HACKATHON 2026 • HYDERABAD CITY BATTLE</a:t>
            </a:r>
          </a:p>
          <a:p>
            <a:pPr>
              <a:defRPr sz="4800" b="1">
                <a:solidFill>
                  <a:srgbClr val="FFFFFF"/>
                </a:solidFill>
              </a:defRPr>
            </a:pPr>
            <a:r>
              <a:t>ClinOSCE iQ</a:t>
            </a:r>
          </a:p>
          <a:p>
            <a:pPr>
              <a:defRPr sz="2200">
                <a:solidFill>
                  <a:srgbClr val="94A3B8"/>
                </a:solidFill>
              </a:defRPr>
            </a:pPr>
            <a:r>
              <a:t>On-Device AI Virtual Patient &amp; Medical Diagnostic Simulator</a:t>
            </a:r>
          </a:p>
          <a:p>
            <a:br/>
            <a:pPr>
              <a:defRPr sz="1400">
                <a:solidFill>
                  <a:srgbClr val="38BDF8"/>
                </a:solidFill>
              </a:defRPr>
            </a:pPr>
            <a:r>
              <a:t>Team Lead: Mohammed Suhail  |  Track: HealthTech (Phase 1 Submission)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Turning iQOO Flagship Smartphones into Handheld Medical Training Labs with Snapdragon NPU &amp; Office 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iQOO HACKATHON 2026 • HEALTHTECH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Problem: The Diagnostic Training Deficit in Early-Career Doctors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DC2626"/>
                </a:solidFill>
              </a:defRPr>
            </a:pPr>
            <a:r>
              <a:t>The Clinical Reality:</a:t>
            </a:r>
          </a:p>
          <a:p>
            <a:pPr>
              <a:spcAft>
                <a:spcPts val="600"/>
              </a:spcAft>
              <a:defRPr b="0" sz="1300">
                <a:solidFill>
                  <a:srgbClr val="334155"/>
                </a:solidFill>
              </a:defRPr>
            </a:pPr>
            <a:r>
              <a:t>• Over 48% of medical diagnostic errors by interns and junior doctors stem from incomplete clinical history taking and missed red flags.</a:t>
            </a:r>
          </a:p>
          <a:p>
            <a:pPr>
              <a:spcAft>
                <a:spcPts val="600"/>
              </a:spcAft>
              <a:defRPr b="1" sz="1400">
                <a:solidFill>
                  <a:srgbClr val="0F172A"/>
                </a:solidFill>
              </a:defRPr>
            </a:pPr>
            <a:r>
              <a:t>The Training Bottleneck:</a:t>
            </a:r>
          </a:p>
          <a:p>
            <a:pPr>
              <a:spcAft>
                <a:spcPts val="600"/>
              </a:spcAft>
              <a:defRPr b="0" sz="1300">
                <a:solidFill>
                  <a:srgbClr val="334155"/>
                </a:solidFill>
              </a:defRPr>
            </a:pPr>
            <a:r>
              <a:t>• Standardized Patients (actors trained to simulate diseases for medical exams) are extremely costly and absent in 84% of Tier-2/3 Indian medical colleges.</a:t>
            </a:r>
          </a:p>
          <a:p>
            <a:pPr>
              <a:spcAft>
                <a:spcPts val="600"/>
              </a:spcAft>
              <a:defRPr b="0" sz="1300">
                <a:solidFill>
                  <a:srgbClr val="334155"/>
                </a:solidFill>
              </a:defRPr>
            </a:pPr>
            <a:r>
              <a:t>• Junior doctors practice on real emergency patients without simulated rehearsal, resulting in diagnostic delays and premature closure.</a:t>
            </a:r>
          </a:p>
          <a:p>
            <a:pPr>
              <a:spcAft>
                <a:spcPts val="600"/>
              </a:spcAft>
              <a:defRPr b="1" sz="1400">
                <a:solidFill>
                  <a:srgbClr val="0F172A"/>
                </a:solidFill>
              </a:defRPr>
            </a:pPr>
            <a:r>
              <a:t>Why Cloud AI Fails Here:</a:t>
            </a:r>
          </a:p>
          <a:p>
            <a:pPr>
              <a:spcAft>
                <a:spcPts val="600"/>
              </a:spcAft>
              <a:defRPr b="0" sz="1300">
                <a:solidFill>
                  <a:srgbClr val="334155"/>
                </a:solidFill>
              </a:defRPr>
            </a:pPr>
            <a:r>
              <a:t>• Cloud LLMs hallucinate inaccurate medical symptoms and fail completely in offline emergency wards or zero-connectivity rural clinics.</a:t>
            </a:r>
          </a:p>
        </p:txBody>
      </p:sp>
      <p:pic>
        <p:nvPicPr>
          <p:cNvPr id="5" name="Picture 4" descr="chart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2179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iQOO HACKATHON 2026 • HEALTHTECH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Architecture: Multimodal On-Device Clinical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2563EB"/>
                </a:solidFill>
              </a:defRPr>
            </a:pPr>
            <a:r>
              <a:t>Edge-First Intelligence:</a:t>
            </a:r>
          </a:p>
          <a:p>
            <a:pPr>
              <a:spcAft>
                <a:spcPts val="800"/>
              </a:spcAft>
              <a:defRPr b="0" sz="1300">
                <a:solidFill>
                  <a:srgbClr val="334155"/>
                </a:solidFill>
              </a:defRPr>
            </a:pPr>
            <a:r>
              <a:t>• Direct Sensor Ingestion: Continuous streaming from microphone (voice Q&amp;A) and camera/torch (pupil reflex/physical inspection).</a:t>
            </a:r>
          </a:p>
          <a:p>
            <a:pPr>
              <a:spcAft>
                <a:spcPts val="800"/>
              </a:spcAft>
              <a:defRPr b="0" sz="1300">
                <a:solidFill>
                  <a:srgbClr val="334155"/>
                </a:solidFill>
              </a:defRPr>
            </a:pPr>
            <a:r>
              <a:t>• Snapdragon NPU Core: Local quantized SLM (Llama-3.2-1B / Gemma-2B) paired with a deterministic 3-case medical state machine.</a:t>
            </a:r>
          </a:p>
          <a:p>
            <a:pPr>
              <a:spcAft>
                <a:spcPts val="800"/>
              </a:spcAft>
              <a:defRPr b="0" sz="1300">
                <a:solidFill>
                  <a:srgbClr val="334155"/>
                </a:solidFill>
              </a:defRPr>
            </a:pPr>
            <a:r>
              <a:t>• Zero Cloud Latency: Patient reacts and speaks in under 250ms with zero reliance on external APIs or venue Wi-Fi.</a:t>
            </a:r>
          </a:p>
          <a:p>
            <a:pPr>
              <a:spcAft>
                <a:spcPts val="800"/>
              </a:spcAft>
              <a:defRPr b="0" sz="1300">
                <a:solidFill>
                  <a:srgbClr val="334155"/>
                </a:solidFill>
              </a:defRPr>
            </a:pPr>
            <a:r>
              <a:t>• iQOO Office Kit Telemetry: Live screen mirror and clinical session handover to laptop supervising consultant.</a:t>
            </a:r>
          </a:p>
        </p:txBody>
      </p:sp>
      <p:pic>
        <p:nvPicPr>
          <p:cNvPr id="5" name="Picture 4" descr="char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4008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iQOO HACKATHON 2026 • HEALTHTECH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Phone-First Execution: Dominating the HackTracker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6A34A"/>
                </a:solidFill>
              </a:defRPr>
            </a:pPr>
            <a:r>
              <a:t>100% HackTracker Alignment:</a:t>
            </a:r>
          </a:p>
          <a:p>
            <a:pPr>
              <a:spcAft>
                <a:spcPts val="800"/>
              </a:spcAft>
              <a:defRPr b="0" sz="1300">
                <a:solidFill>
                  <a:srgbClr val="334155"/>
                </a:solidFill>
              </a:defRPr>
            </a:pPr>
            <a:r>
              <a:t>• Voice (Mic API): Real-time speech-to-text turns student voice queries into clinical examination inputs.</a:t>
            </a:r>
          </a:p>
          <a:p>
            <a:pPr>
              <a:spcAft>
                <a:spcPts val="800"/>
              </a:spcAft>
              <a:defRPr b="0" sz="1300">
                <a:solidFill>
                  <a:srgbClr val="334155"/>
                </a:solidFill>
              </a:defRPr>
            </a:pPr>
            <a:r>
              <a:t>• Camera &amp; Torch API: Handheld inspection of simulated pupillary light reflex and dermatological lesions.</a:t>
            </a:r>
          </a:p>
          <a:p>
            <a:pPr>
              <a:spcAft>
                <a:spcPts val="800"/>
              </a:spcAft>
              <a:defRPr b="0" sz="1300">
                <a:solidFill>
                  <a:srgbClr val="334155"/>
                </a:solidFill>
              </a:defRPr>
            </a:pPr>
            <a:r>
              <a:t>• On-Device Snapdragon NPU: Local inference qualifies for official bonus points and eliminates stage failure.</a:t>
            </a:r>
          </a:p>
          <a:p>
            <a:pPr>
              <a:spcAft>
                <a:spcPts val="800"/>
              </a:spcAft>
              <a:defRPr b="0" sz="1300">
                <a:solidFill>
                  <a:srgbClr val="334155"/>
                </a:solidFill>
              </a:defRPr>
            </a:pPr>
            <a:r>
              <a:t>• Office Kit Bridge: Maintains continuous cross-device telemetry, securing the full 10% device data metric.</a:t>
            </a:r>
          </a:p>
          <a:p>
            <a:pPr>
              <a:spcAft>
                <a:spcPts val="800"/>
              </a:spcAft>
              <a:defRPr b="1" sz="1300">
                <a:solidFill>
                  <a:srgbClr val="DC2626"/>
                </a:solidFill>
              </a:defRPr>
            </a:pPr>
            <a:r>
              <a:t>• Contrast vs Web Wrappers: Generic chatbots score 0% on camera, mic, and Office Kit device data.</a:t>
            </a:r>
          </a:p>
        </p:txBody>
      </p:sp>
      <p:pic>
        <p:nvPicPr>
          <p:cNvPr id="5" name="Picture 4" descr="chart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57607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iQOO HACKATHON 2026 • HEALTHTECH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Anti-Hallucination Engine: 3-Case Bounded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B45309"/>
                </a:solidFill>
              </a:defRPr>
            </a:pPr>
            <a:r>
              <a:t>Why Finite State Machines?</a:t>
            </a:r>
          </a:p>
          <a:p>
            <a:pPr>
              <a:spcAft>
                <a:spcPts val="600"/>
              </a:spcAft>
              <a:defRPr b="0" sz="1300">
                <a:solidFill>
                  <a:srgbClr val="334155"/>
                </a:solidFill>
              </a:defRPr>
            </a:pPr>
            <a:r>
              <a:t>• 1B-3B on-device models hallucinate if prompted with open-ended diagnostic tasks. ClinOSCE iQ binds the model to strict JSON case files.</a:t>
            </a:r>
          </a:p>
          <a:p>
            <a:pPr>
              <a:spcAft>
                <a:spcPts val="600"/>
              </a:spcAft>
              <a:defRPr b="1" sz="1400">
                <a:solidFill>
                  <a:srgbClr val="0F172A"/>
                </a:solidFill>
              </a:defRPr>
            </a:pPr>
            <a:r>
              <a:t>Clinical Cases Supported:</a:t>
            </a:r>
          </a:p>
          <a:p>
            <a:pPr>
              <a:spcAft>
                <a:spcPts val="600"/>
              </a:spcAft>
              <a:defRPr b="0" sz="1250">
                <a:solidFill>
                  <a:srgbClr val="334155"/>
                </a:solidFill>
              </a:defRPr>
            </a:pPr>
            <a:r>
              <a:t>1. Acute Appendicitis: Migratory RLQ pain, fever, rebound tenderness.</a:t>
            </a:r>
          </a:p>
          <a:p>
            <a:pPr>
              <a:spcAft>
                <a:spcPts val="600"/>
              </a:spcAft>
              <a:defRPr b="0" sz="1250">
                <a:solidFill>
                  <a:srgbClr val="334155"/>
                </a:solidFill>
              </a:defRPr>
            </a:pPr>
            <a:r>
              <a:t>2. Acute Myocardial Infarction: Retrosternal pressure, diaphoresis, radiation to left arm.</a:t>
            </a:r>
          </a:p>
          <a:p>
            <a:pPr>
              <a:spcAft>
                <a:spcPts val="600"/>
              </a:spcAft>
              <a:defRPr b="0" sz="1250">
                <a:solidFill>
                  <a:srgbClr val="334155"/>
                </a:solidFill>
              </a:defRPr>
            </a:pPr>
            <a:r>
              <a:t>3. Acute Asthma Exacerbation: Expiratory wheeze, dyspnea, tachypnea.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Objective Evaluation: Quantifies history taking completeness, diagnostic accuracy, and red-flag omissions.</a:t>
            </a:r>
          </a:p>
        </p:txBody>
      </p:sp>
      <p:pic>
        <p:nvPicPr>
          <p:cNvPr id="5" name="Picture 4" descr="chart_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64922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iQOO HACKATHON 2026 • HEALTHTECH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iQOO Office Kit Ecosystem: The Dual-Screen Clinical Station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9333EA"/>
                </a:solidFill>
              </a:defRPr>
            </a:pPr>
            <a:r>
              <a:t>Seamless Dual-Screen Workflow:</a:t>
            </a:r>
          </a:p>
          <a:p>
            <a:pPr>
              <a:spcAft>
                <a:spcPts val="800"/>
              </a:spcAft>
              <a:defRPr b="0" sz="1300">
                <a:solidFill>
                  <a:srgbClr val="334155"/>
                </a:solidFill>
              </a:defRPr>
            </a:pPr>
            <a:r>
              <a:t>• Mobile Surface (iQOO Phone): Handheld clinical bedside tool used by the trainee for voice dialogue and physical exam.</a:t>
            </a:r>
          </a:p>
          <a:p>
            <a:pPr>
              <a:spcAft>
                <a:spcPts val="800"/>
              </a:spcAft>
              <a:defRPr b="0" sz="1300">
                <a:solidFill>
                  <a:srgbClr val="334155"/>
                </a:solidFill>
              </a:defRPr>
            </a:pPr>
            <a:r>
              <a:t>• Laptop Surface (via Office Kit): Attending Physician &amp; Hospital EHR Console. Displays live speech transcripts and real-time biometric vitals.</a:t>
            </a:r>
          </a:p>
          <a:p>
            <a:pPr>
              <a:spcAft>
                <a:spcPts val="800"/>
              </a:spcAft>
              <a:defRPr b="0" sz="1300">
                <a:solidFill>
                  <a:srgbClr val="334155"/>
                </a:solidFill>
              </a:defRPr>
            </a:pPr>
            <a:r>
              <a:t>• Instant Scorecard Handover: At consultation end, the diagnosis evaluation and clinical reasoning score auto-populate on the laptop.</a:t>
            </a:r>
          </a:p>
          <a:p>
            <a:pPr>
              <a:spcAft>
                <a:spcPts val="800"/>
              </a:spcAft>
              <a:defRPr b="1" sz="1300">
                <a:solidFill>
                  <a:srgbClr val="16A34A"/>
                </a:solidFill>
              </a:defRPr>
            </a:pPr>
            <a:r>
              <a:t>• Maximizes Office Kit Telemetry: Keeps active mirror session logged in HackTracker device data.</a:t>
            </a:r>
          </a:p>
        </p:txBody>
      </p:sp>
      <p:pic>
        <p:nvPicPr>
          <p:cNvPr id="5" name="Picture 4" descr="chart_officek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64922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iQOO HACKATHON 2026 • HEALTHTECH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Impact &amp; Roadmap: Scaling AI Medical Simulation Across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2563EB"/>
                </a:solidFill>
              </a:defRPr>
            </a:pPr>
            <a:r>
              <a:t>The Grand Finale Trajectory:</a:t>
            </a:r>
          </a:p>
          <a:p>
            <a:pPr>
              <a:spcAft>
                <a:spcPts val="800"/>
              </a:spcAft>
              <a:defRPr b="0" sz="1300">
                <a:solidFill>
                  <a:srgbClr val="334155"/>
                </a:solidFill>
              </a:defRPr>
            </a:pPr>
            <a:r>
              <a:t>• Phase 1 (City Battle): Deliver 3 core emergency cases with voice, camera pupil reflex, and Office Kit sync.</a:t>
            </a:r>
          </a:p>
          <a:p>
            <a:pPr>
              <a:spcAft>
                <a:spcPts val="800"/>
              </a:spcAft>
              <a:defRPr b="0" sz="1300">
                <a:solidFill>
                  <a:srgbClr val="334155"/>
                </a:solidFill>
              </a:defRPr>
            </a:pPr>
            <a:r>
              <a:t>• Phase 2 (Bengaluru Grand Finale): Expand to 25 specialized clinical modules (Pediatrics, Cardiology, Neurology).</a:t>
            </a:r>
          </a:p>
          <a:p>
            <a:pPr>
              <a:spcAft>
                <a:spcPts val="800"/>
              </a:spcAft>
              <a:defRPr b="0" sz="1300">
                <a:solidFill>
                  <a:srgbClr val="334155"/>
                </a:solidFill>
              </a:defRPr>
            </a:pPr>
            <a:r>
              <a:t>• National Impact: Empowering 100,000+ medical students across Tier-2/3 government medical colleges without expensive simulation mannequins.</a:t>
            </a:r>
          </a:p>
          <a:p>
            <a:pPr>
              <a:spcAft>
                <a:spcPts val="800"/>
              </a:spcAft>
              <a:defRPr b="1" sz="1300">
                <a:solidFill>
                  <a:srgbClr val="F59E0B"/>
                </a:solidFill>
              </a:defRPr>
            </a:pPr>
            <a:r>
              <a:t>• Hardware Synergy: Showcases iQOO flagship smartphones as life-saving diagnostic training supercomputers.</a:t>
            </a:r>
          </a:p>
        </p:txBody>
      </p:sp>
      <p:pic>
        <p:nvPicPr>
          <p:cNvPr id="5" name="Picture 4" descr="char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6492240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